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1463040"/>
            <a:ext cx="4572000" cy="4572000"/>
          </a:xfrm>
          <a:prstGeom prst="ellipse">
            <a:avLst/>
          </a:prstGeom>
          <a:solidFill>
            <a:srgbClr val="8E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5120640"/>
            <a:ext cx="4206240" cy="4206240"/>
          </a:xfrm>
          <a:prstGeom prst="ellipse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822960" cy="822960"/>
          </a:xfrm>
          <a:prstGeom prst="roundRect">
            <a:avLst/>
          </a:prstGeom>
          <a:solidFill>
            <a:srgbClr val="8E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Inter"/>
                <a:ea typeface="Segoe UI"/>
              </a:rPr>
              <a:t>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Inter"/>
                <a:ea typeface="Segoe UI"/>
              </a:rPr>
              <a:t>StudyMate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E4E0FF"/>
                </a:solidFill>
                <a:latin typeface="Inter"/>
                <a:ea typeface="Segoe UI"/>
              </a:rPr>
              <a:t>AI Learning Assistant  —  Semantic Answer Evaluation, Weak-Topic Detection and Personalized Revision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77639"/>
            <a:ext cx="1956816" cy="384048"/>
          </a:xfrm>
          <a:prstGeom prst="roundRect">
            <a:avLst>
              <a:gd name="adj" fmla="val 50000"/>
            </a:avLst>
          </a:prstGeom>
          <a:solidFill>
            <a:srgbClr val="7A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  <a:ea typeface="Segoe UI"/>
              </a:rPr>
              <a:t>Topic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3977639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7A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  <a:ea typeface="Segoe UI"/>
              </a:rPr>
              <a:t>Smart Quiz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977639"/>
            <a:ext cx="2061972" cy="384048"/>
          </a:xfrm>
          <a:prstGeom prst="roundRect">
            <a:avLst>
              <a:gd name="adj" fmla="val 50000"/>
            </a:avLst>
          </a:prstGeom>
          <a:solidFill>
            <a:srgbClr val="7A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  <a:ea typeface="Segoe UI"/>
              </a:rPr>
              <a:t>Weakness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1404" y="3977639"/>
            <a:ext cx="1851660" cy="384048"/>
          </a:xfrm>
          <a:prstGeom prst="roundRect">
            <a:avLst>
              <a:gd name="adj" fmla="val 50000"/>
            </a:avLst>
          </a:prstGeom>
          <a:solidFill>
            <a:srgbClr val="7A6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Inter"/>
                <a:ea typeface="Segoe UI"/>
              </a:rPr>
              <a:t>Guided Revision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983480"/>
            <a:ext cx="10515600" cy="15240"/>
          </a:xfrm>
          <a:prstGeom prst="rect">
            <a:avLst/>
          </a:prstGeom>
          <a:solidFill>
            <a:srgbClr val="A9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66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Inter"/>
                <a:ea typeface="Segoe UI"/>
              </a:rPr>
              <a:t>NLP Mini-Project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532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E4E0FF"/>
                </a:solidFill>
                <a:latin typeface="Inter"/>
                <a:ea typeface="Segoe UI"/>
              </a:rPr>
              <a:t>[Student Name]     |     [Roll Number]     |     [Course / Class]
[College / 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1. Introduction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2. Problem Statement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3. Literature Review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4. Research Gap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5. Requirement Analysis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6. Methodology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7. 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8. Workflow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9. Technology Stack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10. Implementation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11. Results and Discussion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12. Future Scope</a:t>
            </a:r>
          </a:p>
          <a:p>
            <a:pPr>
              <a:spcAft>
                <a:spcPts val="1400"/>
              </a:spcAft>
            </a:pPr>
            <a:r>
              <a:rPr sz="2000" b="1" i="0">
                <a:solidFill>
                  <a:srgbClr val="2D2A3A"/>
                </a:solidFill>
                <a:latin typeface="Inter"/>
                <a:ea typeface="Segoe UI"/>
              </a:rPr>
              <a:t>13. Conclusion and References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Background • Motivation •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StudyMate is an AI learning assistant that evaluates whether a student truly understands study material, not whether they memorized it.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It builds on NLP advances and large-scale QA resources such as Microsoft MS MARCO v2.1 (1M+ human-generated answers).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Motivation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Traditional tools grade by keyword matching and miss understanding.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Students need feedback on which topics to revise and how to revise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089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1188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Topic extraction from study material and auto-generated quizzes.</a:t>
            </a:r>
          </a:p>
          <a:p>
            <a:pPr>
              <a:spcAft>
                <a:spcPts val="4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Semantic answer grading + weak-topic detection + guided revision.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00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56048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8A86A5"/>
                </a:solidFill>
                <a:latin typeface="Inter"/>
                <a:ea typeface="Segoe UI"/>
              </a:rPr>
              <a:t>Project 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200" b="1" i="0">
                <a:solidFill>
                  <a:srgbClr val="6C5CE7"/>
                </a:solidFill>
                <a:latin typeface="Inter"/>
                <a:ea typeface="Segoe UI"/>
              </a:rPr>
              <a:t>Study Material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5349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99816" y="54406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200" b="1" i="0">
                <a:solidFill>
                  <a:srgbClr val="6C5CE7"/>
                </a:solidFill>
                <a:latin typeface="Inter"/>
                <a:ea typeface="Segoe UI"/>
              </a:rPr>
              <a:t>NLP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5349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22392" y="54406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200" b="1" i="0">
                <a:solidFill>
                  <a:srgbClr val="6C5CE7"/>
                </a:solidFill>
                <a:latin typeface="Inter"/>
                <a:ea typeface="Segoe UI"/>
              </a:rPr>
              <a:t>Topic 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544" y="5349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27848" y="544068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200" b="1" i="0">
                <a:solidFill>
                  <a:srgbClr val="6C5CE7"/>
                </a:solidFill>
                <a:latin typeface="Inter"/>
                <a:ea typeface="Segoe UI"/>
              </a:rPr>
              <a:t>Answer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5349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4744" y="5440680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200" b="1" i="0">
                <a:solidFill>
                  <a:srgbClr val="6C5CE7"/>
                </a:solidFill>
                <a:latin typeface="Inter"/>
                <a:ea typeface="Segoe UI"/>
              </a:rPr>
              <a:t>Weak-Topic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49656" y="53492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395960" y="54406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6200" rIns="76200" tIns="25400" bIns="25400"/>
          <a:lstStyle/>
          <a:p>
            <a:pPr algn="ctr"/>
            <a:r>
              <a:rPr sz="1200" b="1" i="0">
                <a:solidFill>
                  <a:srgbClr val="6C5CE7"/>
                </a:solidFill>
                <a:latin typeface="Inter"/>
                <a:ea typeface="Segoe UI"/>
              </a:rPr>
              <a:t>Recommendation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Existing problem •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6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74C3C"/>
                </a:solidFill>
                <a:latin typeface="Inter"/>
                <a:ea typeface="Segoe UI"/>
              </a:rPr>
              <a:t>Existing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Keyword / exact-text matching fails to capture meaning — a correct but differently-worded answer scores poorly.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No measurement of actual conceptual understanding.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Feedback is generic (“gave a wrong answer”) and does not tell the learner which topics to revise.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Existing assistants are often chat-only; they do not build a topic-level learner profile.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86400" cy="2651760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12700">
            <a:solidFill>
              <a:srgbClr val="BCE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7AE60"/>
                </a:solidFill>
                <a:latin typeface="Inter"/>
                <a:ea typeface="Segoe UI"/>
              </a:rP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Compare a TF-IDF baseline with a transformer-based semantic model (Sentence Transformer) for answer evaluation.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Evaluate both on a held-out test split using Accuracy, Precision, Recall, F1 and improvement.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Extract key topics from uploaded study material.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Grade student answers for understanding and detect weak topics.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Recommend a focused, personalized revision plan.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3.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3–5 research papers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82296" cy="14630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36776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6C5CE7"/>
                </a:solidFill>
                <a:latin typeface="Inter"/>
                <a:ea typeface="Segoe UI"/>
              </a:rPr>
              <a:t>Jones (1972) — Salton &amp; McGill — TF-IDF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Term frequency–inverse document frequency weights terms by how distinctive they are; foundation of classic text retrieval and our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82296" cy="14630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36776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6C5CE7"/>
                </a:solidFill>
                <a:latin typeface="Inter"/>
                <a:ea typeface="Segoe UI"/>
              </a:rPr>
              <a:t>Mikolov et al. (2013) — Word2Vec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Learns dense word vectors from local context; inspired the move from sparse features to semantic embeddings.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081528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081528"/>
            <a:ext cx="82296" cy="14630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09544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6C5CE7"/>
                </a:solidFill>
                <a:latin typeface="Inter"/>
                <a:ea typeface="Segoe UI"/>
              </a:rPr>
              <a:t>Vaswani et al. (2017) — Attention is All You Need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Introduced the Transformer; self-attention models relationships between tokens and powers modern NLP.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081528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081528"/>
            <a:ext cx="82296" cy="14630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09544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6C5CE7"/>
                </a:solidFill>
                <a:latin typeface="Inter"/>
                <a:ea typeface="Segoe UI"/>
              </a:rPr>
              <a:t>Devlin et al. (2019) — BERT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Pre-trained contextual representations; fine-tuning gives strong results for classification and QA.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654296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654296"/>
            <a:ext cx="82296" cy="14630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782312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6C5CE7"/>
                </a:solidFill>
                <a:latin typeface="Inter"/>
                <a:ea typeface="Segoe UI"/>
              </a:rPr>
              <a:t>Reimers &amp; Gurevych (2019) — Sentence-BERT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Produces sentence embeddings comparable by cosine similarity — the basis of our semantic grading.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654296"/>
            <a:ext cx="548640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654296"/>
            <a:ext cx="82296" cy="146304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782312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6C5CE7"/>
                </a:solidFill>
                <a:latin typeface="Inter"/>
                <a:ea typeface="Segoe UI"/>
              </a:rPr>
              <a:t>Redhu, Singh &amp; Saravanan (2024) — AI-Enhanced Learning Assistant Platform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Reference paper: AI platforms that personalize learning assistance — the direction StudyMate follows.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4. 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Limitations → Gap →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657600" cy="4206240"/>
          </a:xfrm>
          <a:prstGeom prst="roundRect">
            <a:avLst>
              <a:gd name="adj" fmla="val 8000"/>
            </a:avLst>
          </a:prstGeom>
          <a:solidFill>
            <a:srgbClr val="FDECEA"/>
          </a:solidFill>
          <a:ln w="12700">
            <a:solidFill>
              <a:srgbClr val="F6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E74C3C"/>
                </a:solidFill>
                <a:latin typeface="Inter"/>
                <a:ea typeface="Segoe UI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3108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Keyword matching ignores meaning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No understanding measurement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Generic, topic-agnostic feedback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Full transformer models need heavy compute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74C3C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Assistants lack learner profiling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31089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6C5CE7"/>
                </a:solidFill>
                <a:latin typeface="Inter"/>
                <a:ea typeface="Segoe UI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1554480"/>
            <a:ext cx="2651760" cy="4206240"/>
          </a:xfrm>
          <a:prstGeom prst="roundRect">
            <a:avLst>
              <a:gd name="adj" fmla="val 8000"/>
            </a:avLst>
          </a:prstGeom>
          <a:solidFill>
            <a:srgbClr val="FEF5E7"/>
          </a:solidFill>
          <a:ln w="12700">
            <a:solidFill>
              <a:srgbClr val="F9E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691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39C12"/>
                </a:solidFill>
                <a:latin typeface="Inter"/>
                <a:ea typeface="Segoe UI"/>
              </a:rPr>
              <a:t>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03120"/>
            <a:ext cx="21031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F39C12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No lightweight system that combines semantic grading with topic-level weak-area detection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F39C12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No automated link from answers to a personalized revision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108960"/>
            <a:ext cx="731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6C5CE7"/>
                </a:solidFill>
                <a:latin typeface="Inter"/>
                <a:ea typeface="Segoe UI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554480"/>
            <a:ext cx="2743200" cy="4206240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12700">
            <a:solidFill>
              <a:srgbClr val="BCE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7AE60"/>
                </a:solidFill>
                <a:latin typeface="Inter"/>
                <a:ea typeface="Segoe UI"/>
              </a:rPr>
              <a:t>Our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103120"/>
            <a:ext cx="2194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StudyMate: sentence embeddings + cosine similarity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Topic-level learner profile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Weak-topic detection with guided revision</a:t>
            </a:r>
          </a:p>
          <a:p>
            <a:pPr>
              <a:spcAft>
                <a:spcPts val="1000"/>
              </a:spcAft>
            </a:pPr>
            <a:r>
              <a:rPr sz="135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Lightweight all-MiniLM-L6-v2 model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5. Requirement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Functional • Non-functional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Upload study material (TXT) or use a built-in sample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Extract the most important topics via TF-IDF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Auto-generate quiz questions from chosen topics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Grade free-text answers using semantic similarity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Compute an overall + per-topic understanding score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Classify topics as Strong / Needs practice / Weak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Recommend Wikipedia + tutorial links per weak topic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Generate a focused practice quiz on weak topics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Non-functional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Accuracy — measured on a held-out test split, not training data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Performance — lightweight model, streams only a 20k sample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Usability — simple, guided, visual Streamlit interface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Reproducibility — thresholds chosen on training, fixed for test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Portability — runs locally or on Google Colab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6.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Baseline vs improved model • evaluation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Study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A86A5"/>
                </a:solidFill>
                <a:latin typeface="Inter"/>
                <a:ea typeface="Segoe UI"/>
              </a:rPr>
              <a:t>TXT upload /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9659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50592" y="15087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6916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NLP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28600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A86A5"/>
                </a:solidFill>
                <a:latin typeface="Inter"/>
                <a:ea typeface="Segoe UI"/>
              </a:rPr>
              <a:t>sentence split + clean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87368" y="19659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8264" y="15087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16916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Topic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9704" y="228600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A86A5"/>
                </a:solidFill>
                <a:latin typeface="Inter"/>
                <a:ea typeface="Segoe UI"/>
              </a:rPr>
              <a:t>TF-IDF top terms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9659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15087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16916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Answer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28600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A86A5"/>
                </a:solidFill>
                <a:latin typeface="Inter"/>
                <a:ea typeface="Segoe UI"/>
              </a:rPr>
              <a:t>sentence embeddings + cosine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9659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3608" y="15087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8" y="16916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Weak-Topic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8" y="228600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A86A5"/>
                </a:solidFill>
                <a:latin typeface="Inter"/>
                <a:ea typeface="Segoe UI"/>
              </a:rPr>
              <a:t>score &lt; 45% → revise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0384" y="196596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150876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16916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286000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A86A5"/>
                </a:solidFill>
                <a:latin typeface="Inter"/>
                <a:ea typeface="Segoe UI"/>
              </a:rPr>
              <a:t>lesson + links + practice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2004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337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39C12"/>
                </a:solidFill>
                <a:latin typeface="Inter"/>
                <a:ea typeface="Segoe UI"/>
              </a:rPr>
              <a:t>Baseline — TF-IDF + Cosine Similarity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374903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F39C12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Represents answers as sparse TF-IDF vectors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F39C12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Compares with cosine similarity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F39C12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Classic, fast, interpretable; misses semantics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2004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337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7AE60"/>
                </a:solidFill>
                <a:latin typeface="Inter"/>
                <a:ea typeface="Segoe UI"/>
              </a:rPr>
              <a:t>Improved — Sentence Transformer + Cosine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749039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all-MiniLM-L6-v2 encodes answers into sentence embeddings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Cosine similarity captures meaning, not exact wording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Lightweight, fast, works offline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7.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Layered view of the StudyMate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00200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70992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57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FEBFF"/>
                </a:solidFill>
                <a:latin typeface="Inter"/>
                <a:ea typeface="Segoe UI"/>
              </a:rPr>
              <a:t>Streamlit web UI — upload, quiz, results, study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624328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8E7C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73405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Application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08152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FEBFF"/>
                </a:solidFill>
                <a:latin typeface="Inter"/>
                <a:ea typeface="Segoe UI"/>
              </a:rPr>
              <a:t>Quiz engine · Grading logic · Weak-topic detection · Recommendation builder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3648456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A99BF5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375818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NLP / ML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05656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FEBFF"/>
                </a:solidFill>
                <a:latin typeface="Inter"/>
                <a:ea typeface="Segoe UI"/>
              </a:rPr>
              <a:t>TF-IDF topic extraction · Sentence Transformer embeddings · cosine similarity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672584"/>
            <a:ext cx="9418320" cy="868680"/>
          </a:xfrm>
          <a:prstGeom prst="roundRect">
            <a:avLst>
              <a:gd name="adj" fmla="val 8000"/>
            </a:avLst>
          </a:prstGeom>
          <a:solidFill>
            <a:srgbClr val="C4B8F8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78231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5129784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EFEBFF"/>
                </a:solidFill>
                <a:latin typeface="Inter"/>
                <a:ea typeface="Segoe UI"/>
              </a:rPr>
              <a:t>Uploaded study material · Sentence pool · MS MARCO v2.1 (streamed sample)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8.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End-to-end user flow in the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5727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19072"/>
            <a:ext cx="512064" cy="51206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3172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C5CE7"/>
                </a:solidFill>
                <a:latin typeface="Inter"/>
                <a:ea typeface="Segoe UI"/>
              </a:rPr>
              <a:t>Upload material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78892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TXT file or built-in 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21992" y="1554480"/>
            <a:ext cx="15727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52344" y="1719072"/>
            <a:ext cx="512064" cy="51206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144" y="233172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C5CE7"/>
                </a:solidFill>
                <a:latin typeface="Inter"/>
                <a:ea typeface="Segoe UI"/>
              </a:rP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5144" y="278892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split sentences, extract topics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41064" y="1554480"/>
            <a:ext cx="15727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71416" y="1719072"/>
            <a:ext cx="512064" cy="51206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6" y="233172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C5CE7"/>
                </a:solidFill>
                <a:latin typeface="Inter"/>
                <a:ea typeface="Segoe UI"/>
              </a:rPr>
              <a:t>Pick topics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6" y="278892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choose what to be tested 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0136" y="1554480"/>
            <a:ext cx="15727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90488" y="1719072"/>
            <a:ext cx="512064" cy="51206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3288" y="233172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C5CE7"/>
                </a:solidFill>
                <a:latin typeface="Inter"/>
                <a:ea typeface="Segoe UI"/>
              </a:rPr>
              <a:t>Answer quiz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3288" y="278892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own-words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79208" y="1554480"/>
            <a:ext cx="15727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09560" y="1719072"/>
            <a:ext cx="512064" cy="51206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233172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C5CE7"/>
                </a:solidFill>
                <a:latin typeface="Inter"/>
                <a:ea typeface="Segoe UI"/>
              </a:rPr>
              <a:t>Grade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78892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semantic similarity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1554480"/>
            <a:ext cx="15727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28632" y="1719072"/>
            <a:ext cx="512064" cy="51206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1432" y="233172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C5CE7"/>
                </a:solidFill>
                <a:latin typeface="Inter"/>
                <a:ea typeface="Segoe UI"/>
              </a:rPr>
              <a:t>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278892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strong / practice / weak topics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43032" y="228600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8A86A5"/>
                </a:solidFill>
                <a:latin typeface="Inter"/>
                <a:ea typeface="Segoe U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17352" y="1554480"/>
            <a:ext cx="157276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347704" y="1719072"/>
            <a:ext cx="512064" cy="51206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  <a:ea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90504" y="2331720"/>
            <a:ext cx="14264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6C5CE7"/>
                </a:solidFill>
                <a:latin typeface="Inter"/>
                <a:ea typeface="Segoe UI"/>
              </a:rPr>
              <a:t>Learn &amp; retake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90504" y="278892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lesson + links + practice quiz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840480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397763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Grading rule (conceptual, not memorisation)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3891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Score = best cosine similarity (%) between the answer embedding and the topic's source sentences (definition + how-it-works pool).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Short answers (&lt; 4 words) are penalized ×0.5; unanswered questions score 0.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Thresholds: ≥ 65 Strong  ·  45–65 Needs practice  ·  &lt; 45 Weak.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9.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Languages, libraries and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2377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Language &amp; Apps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09344"/>
            <a:ext cx="15240" cy="457200"/>
          </a:xfrm>
          <a:prstGeom prst="rect">
            <a:avLst/>
          </a:prstGeom>
          <a:solidFill>
            <a:srgbClr val="DCD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3619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2D2A3A"/>
                </a:solidFill>
                <a:latin typeface="Inter"/>
                <a:ea typeface="Segoe UI"/>
              </a:rPr>
              <a:t>Python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536192"/>
            <a:ext cx="4846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Jupyter Notebook (experiments) · Streamlit (demo UI)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3172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04872"/>
            <a:ext cx="2377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NLP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478024"/>
            <a:ext cx="15240" cy="457200"/>
          </a:xfrm>
          <a:prstGeom prst="rect">
            <a:avLst/>
          </a:prstGeom>
          <a:solidFill>
            <a:srgbClr val="DCD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40487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2D2A3A"/>
                </a:solidFill>
                <a:latin typeface="Inter"/>
                <a:ea typeface="Segoe UI"/>
              </a:rPr>
              <a:t>Sentence Transformers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04872"/>
            <a:ext cx="4846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all-MiniLM-L6-v2 for sentence embeddings · cosine similarity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040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73552"/>
            <a:ext cx="2377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Classic ML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346704"/>
            <a:ext cx="15240" cy="457200"/>
          </a:xfrm>
          <a:prstGeom prst="rect">
            <a:avLst/>
          </a:prstGeom>
          <a:solidFill>
            <a:srgbClr val="DCD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327355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2D2A3A"/>
                </a:solidFill>
                <a:latin typeface="Inter"/>
                <a:ea typeface="Segoe UI"/>
              </a:rP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73552"/>
            <a:ext cx="4846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TfidfVectorizer for topic extraction and TF-IDF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6908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142232"/>
            <a:ext cx="2377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215384"/>
            <a:ext cx="15240" cy="457200"/>
          </a:xfrm>
          <a:prstGeom prst="rect">
            <a:avLst/>
          </a:prstGeom>
          <a:solidFill>
            <a:srgbClr val="DCD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414223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2D2A3A"/>
                </a:solidFill>
                <a:latin typeface="Inter"/>
                <a:ea typeface="Segoe UI"/>
              </a:rPr>
              <a:t>Hugging Face 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42232"/>
            <a:ext cx="4846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MS MARCO v2.1 — streamed 20k train records, ~1M total queries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93776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2377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5084064"/>
            <a:ext cx="15240" cy="457200"/>
          </a:xfrm>
          <a:prstGeom prst="rect">
            <a:avLst/>
          </a:prstGeom>
          <a:solidFill>
            <a:srgbClr val="DCD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501091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2D2A3A"/>
                </a:solidFill>
                <a:latin typeface="Inter"/>
                <a:ea typeface="Segoe UI"/>
              </a:rPr>
              <a:t>pandas · numpy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10912"/>
            <a:ext cx="4846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tabular handling, metrics computation, numeric 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806440"/>
            <a:ext cx="111556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79592"/>
            <a:ext cx="2377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Visualisation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5952744"/>
            <a:ext cx="15240" cy="457200"/>
          </a:xfrm>
          <a:prstGeom prst="rect">
            <a:avLst/>
          </a:prstGeom>
          <a:solidFill>
            <a:srgbClr val="DCD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5879592"/>
            <a:ext cx="29260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 i="0">
                <a:solidFill>
                  <a:srgbClr val="2D2A3A"/>
                </a:solidFill>
                <a:latin typeface="Inter"/>
                <a:ea typeface="Segoe UI"/>
              </a:rPr>
              <a:t>matplotlib · seaborn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879592"/>
            <a:ext cx="4846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confusion matrix and result charts in the notebook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10.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Key implementation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Experiments (StudyMate.ipynb)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Streams the first 20,000 MS MARCO v2.1 training queries.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Weak/strong proxy labels from truncated reference answers.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Trains both models; selects thresholds on the train split (best F1).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Evaluates on a held-out test split.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Frontend (frontend/app.py)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Single-file Streamlit app (~500 lines) with custom UI theme.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TF-IDF topic extraction with stop-word filtering.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Sentence embeddings graded with cosine similarity.</a:t>
            </a:r>
          </a:p>
          <a:p>
            <a:pPr>
              <a:spcAft>
                <a:spcPts val="500"/>
              </a:spcAft>
            </a:pPr>
            <a:r>
              <a:rPr sz="135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Teaching blocks rebuild the topic from its source sentences.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51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Evaluation metrics (held-out test split)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7091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828032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193792"/>
            <a:ext cx="1883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share of answers labelled correctly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7091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27248" y="4828032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Precision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193792"/>
            <a:ext cx="1883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correct weak flags / all weak flags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47091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67528" y="4828032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5193792"/>
            <a:ext cx="1883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weak answers actually detected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0" y="47091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8" y="4828032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F1-score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5193792"/>
            <a:ext cx="1883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harmonic mean of precision &amp; recall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470916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48088" y="4828032"/>
            <a:ext cx="1883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Improvement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5193792"/>
            <a:ext cx="1883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8A86A5"/>
                </a:solidFill>
                <a:latin typeface="Inter"/>
                <a:ea typeface="Segoe UI"/>
              </a:rPr>
              <a:t>accuracy gain vs TF-IDF 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11. Results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Baseline vs improved — run the notebook for exact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What the notebook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Model metrics on the held-out test split: Accuracy, Precision, Recall, F1.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Accuracy improvement of the Sentence Transformer over the TF-IDF baseline.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Confusion matrix visualising weak/strong classification.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Values are generated by running StudyMate.ipynb — do not cite numbers before running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554480"/>
            <a:ext cx="4023360" cy="2194560"/>
          </a:xfrm>
          <a:prstGeom prst="roundRect">
            <a:avLst>
              <a:gd name="adj" fmla="val 8000"/>
            </a:avLst>
          </a:prstGeom>
          <a:solidFill>
            <a:srgbClr val="EDEAFC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7830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6C5CE7"/>
                </a:solidFill>
                <a:latin typeface="Inter"/>
                <a:ea typeface="Segoe UI"/>
              </a:rPr>
              <a:t>Expected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94560"/>
            <a:ext cx="3566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D2A3A"/>
                </a:solidFill>
                <a:latin typeface="Inter"/>
                <a:ea typeface="Segoe UI"/>
              </a:rPr>
              <a:t>Semantic embeddings should beat sparse TF-IDF on free-text answers because they reward correct meaning expressed in different words.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111556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F39C12"/>
                </a:solidFill>
                <a:latin typeface="Inter"/>
                <a:ea typeface="Segoe UI"/>
              </a:rPr>
              <a:t>Results table (fill after running the notebook)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617720"/>
            <a:ext cx="10607040" cy="457200"/>
          </a:xfrm>
          <a:prstGeom prst="rect">
            <a:avLst/>
          </a:prstGeom>
          <a:solidFill>
            <a:srgbClr val="EDEAFC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690872"/>
            <a:ext cx="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9087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9087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9087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69087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F1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69087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Improvement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166360"/>
            <a:ext cx="10607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239512"/>
            <a:ext cx="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TF-IDF + cosine (baseline)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23951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23951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23951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23951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523951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715000"/>
            <a:ext cx="10607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788152"/>
            <a:ext cx="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D2A3A"/>
                </a:solidFill>
                <a:latin typeface="Inter"/>
                <a:ea typeface="Segoe UI"/>
              </a:rPr>
              <a:t>Sentence Transformer + cosine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78815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578815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78815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78815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788152"/>
            <a:ext cx="1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8A86A5"/>
                </a:solidFill>
                <a:latin typeface="Inter"/>
                <a:ea typeface="Segoe UI"/>
              </a:rPr>
              <a:t>[  ]pp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12.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6A5"/>
                </a:solidFill>
                <a:latin typeface="Inter"/>
                <a:ea typeface="Segoe UI"/>
              </a:rPr>
              <a:t>Possible extensions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508760"/>
            <a:ext cx="82296" cy="13258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3677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Scale up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A3A"/>
                </a:solidFill>
                <a:latin typeface="Inter"/>
                <a:ea typeface="Segoe UI"/>
              </a:rPr>
              <a:t>Use the full MS MARCO dataset (1M+ queries) instead of the 20k demo sample.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82296" cy="13258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3677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Real labels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A3A"/>
                </a:solidFill>
                <a:latin typeface="Inter"/>
                <a:ea typeface="Segoe UI"/>
              </a:rPr>
              <a:t>Replace proxy labels with a manually labelled student-answer test 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7180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71800"/>
            <a:ext cx="82296" cy="13258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9981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LLM grading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A3A"/>
                </a:solidFill>
                <a:latin typeface="Inter"/>
                <a:ea typeface="Segoe UI"/>
              </a:rPr>
              <a:t>Add large-language-model feedback with detailed explanatory comments.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97180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971800"/>
            <a:ext cx="82296" cy="13258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09981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Richer inputs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A3A"/>
                </a:solidFill>
                <a:latin typeface="Inter"/>
                <a:ea typeface="Segoe UI"/>
              </a:rPr>
              <a:t>Support PDF / images / video transcripts, not only TXT.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43484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82296" cy="13258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56285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Adaptive path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A3A"/>
                </a:solidFill>
                <a:latin typeface="Inter"/>
                <a:ea typeface="Segoe UI"/>
              </a:rPr>
              <a:t>Build a per-learner adaptive curriculum that revisits weak topics over time.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43484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4434840"/>
            <a:ext cx="82296" cy="13258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56285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Multilingual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A3A"/>
                </a:solidFill>
                <a:latin typeface="Inter"/>
                <a:ea typeface="Segoe UI"/>
              </a:rPr>
              <a:t>Extend grading and topics to multiple languages.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897880"/>
            <a:ext cx="54864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897880"/>
            <a:ext cx="82296" cy="13258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6025896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6C5CE7"/>
                </a:solidFill>
                <a:latin typeface="Inter"/>
                <a:ea typeface="Segoe UI"/>
              </a:rPr>
              <a:t>Analytics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A3A"/>
                </a:solidFill>
                <a:latin typeface="Inter"/>
                <a:ea typeface="Segoe UI"/>
              </a:rPr>
              <a:t>Dashboard tracking learner progress across multiple study sessions.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45720"/>
          </a:xfrm>
          <a:prstGeom prst="rect">
            <a:avLst/>
          </a:prstGeom>
          <a:solidFill>
            <a:srgbClr val="4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Inter"/>
                <a:ea typeface="Segoe UI"/>
              </a:rPr>
              <a:t>13. Conclusion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146304"/>
            <a:ext cx="731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0" i="0">
                <a:solidFill>
                  <a:srgbClr val="E4E0FF"/>
                </a:solidFill>
                <a:latin typeface="Inter"/>
                <a:ea typeface="Segoe U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669280" cy="3017520"/>
          </a:xfrm>
          <a:prstGeom prst="roundRect">
            <a:avLst>
              <a:gd name="adj" fmla="val 8000"/>
            </a:avLst>
          </a:prstGeom>
          <a:solidFill>
            <a:srgbClr val="E8F8EF"/>
          </a:solidFill>
          <a:ln w="12700">
            <a:solidFill>
              <a:srgbClr val="BCE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27AE60"/>
                </a:solidFill>
                <a:latin typeface="Inter"/>
                <a:ea typeface="Segoe UI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1206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StudyMate evaluates understanding, not memorisation, using semantic similarity.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It compares a classic TF-IDF baseline with a transformer model on a held-out test split.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It maps answer performance back to study topics for targeted, personalised revision.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27AE60"/>
                </a:solidFill>
                <a:latin typeface="Inter"/>
                <a:ea typeface="Segoe UI"/>
              </a:rPr>
              <a:t>▪  </a:t>
            </a:r>
            <a:r>
              <a:rPr sz="1400" b="0" i="0">
                <a:solidFill>
                  <a:srgbClr val="2D2A3A"/>
                </a:solidFill>
                <a:latin typeface="Inter"/>
                <a:ea typeface="Segoe UI"/>
              </a:rPr>
              <a:t>A lightweight Streamlit frontend demonstrates the full flow end-to-end.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3035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6C5CE7"/>
                </a:solidFill>
                <a:latin typeface="Inter"/>
                <a:ea typeface="Segoe UI"/>
              </a:rPr>
              <a:t>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▪  Redhu, Singh, Saravanan — “AI-Enhanced Learning Assistant Platform”, 2024.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▪  Vaswani et al. — “Attention is All You Need”, NeurIPS 2017.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▪  Devlin et al. — “BERT: Pre-training of Deep Bidirectional Transformers”, 2019.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▪  Reimers &amp; Gurevych — “Sentence-BERT”, EMNLP 2019.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▪  Mikolov et al. — “Efficient Estimation of Word Representations in Vector Space”, 2013.</a:t>
            </a:r>
          </a:p>
          <a:p>
            <a:pPr>
              <a:spcAft>
                <a:spcPts val="600"/>
              </a:spcAft>
            </a:pPr>
            <a:r>
              <a:rPr sz="1250" b="0" i="0">
                <a:solidFill>
                  <a:srgbClr val="2D2A3A"/>
                </a:solidFill>
                <a:latin typeface="Inter"/>
                <a:ea typeface="Segoe UI"/>
              </a:rPr>
              <a:t>▪  Microsoft MS MARCO v2.1 — huggingface.co/datasets/microsoft/ms_marco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37760"/>
            <a:ext cx="11155680" cy="1097280"/>
          </a:xfrm>
          <a:prstGeom prst="round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Inter"/>
                <a:ea typeface="Segoe UI"/>
              </a:rPr>
              <a:t>Thank you  —  Questions welcome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5400"/>
          </a:xfrm>
          <a:prstGeom prst="rect">
            <a:avLst/>
          </a:prstGeom>
          <a:solidFill>
            <a:srgbClr val="EDE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836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86A5"/>
                </a:solidFill>
                <a:latin typeface="Inter"/>
                <a:ea typeface="Segoe UI"/>
              </a:rPr>
              <a:t>StudyMate  —  NLP Mini-Project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